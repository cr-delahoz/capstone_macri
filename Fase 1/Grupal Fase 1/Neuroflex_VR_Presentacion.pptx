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4Uf2ar177DaLvl6/75p40qh1/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B32B56-BDDB-4798-AA16-C45DA5F85D3D}">
  <a:tblStyle styleId="{72B32B56-BDDB-4798-AA16-C45DA5F85D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B4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332720" y="3840480"/>
            <a:ext cx="3108960" cy="3108960"/>
          </a:xfrm>
          <a:prstGeom prst="ellipse">
            <a:avLst/>
          </a:prstGeom>
          <a:solidFill>
            <a:srgbClr val="00A89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097280" y="4572000"/>
            <a:ext cx="2926080" cy="2926080"/>
          </a:xfrm>
          <a:prstGeom prst="ellipse">
            <a:avLst/>
          </a:prstGeom>
          <a:solidFill>
            <a:srgbClr val="00A896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C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CB"/>
                </a:solidFill>
                <a:latin typeface="Calibri"/>
                <a:ea typeface="Calibri"/>
                <a:cs typeface="Calibri"/>
                <a:sym typeface="Calibri"/>
              </a:rPr>
              <a:t>PROYECTO APT · INGENIERÍA INFORMÁTICA · DUOC UC, SEDE VIÑA DEL MAR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94360" y="196596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Neuroflex VR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324612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0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9F0EC"/>
                </a:solidFill>
                <a:latin typeface="Calibri"/>
                <a:ea typeface="Calibri"/>
                <a:cs typeface="Calibri"/>
                <a:sym typeface="Calibri"/>
              </a:rPr>
              <a:t>Realidad virtual y machine learning para ralentizar el deterioro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0E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9F0EC"/>
                </a:solidFill>
                <a:latin typeface="Calibri"/>
                <a:ea typeface="Calibri"/>
                <a:cs typeface="Calibri"/>
                <a:sym typeface="Calibri"/>
              </a:rPr>
              <a:t>cognitivo en adultos mayores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4663440"/>
            <a:ext cx="4206240" cy="1234440"/>
          </a:xfrm>
          <a:prstGeom prst="roundRect">
            <a:avLst>
              <a:gd fmla="val 6667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68680" y="482803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Mauricio Galdames Pino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68680" y="5230368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9D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D9D1"/>
                </a:solidFill>
                <a:latin typeface="Calibri"/>
                <a:ea typeface="Calibri"/>
                <a:cs typeface="Calibri"/>
                <a:sym typeface="Calibri"/>
              </a:rPr>
              <a:t>Project Manager &amp; Desarrollador VR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212080" y="4663440"/>
            <a:ext cx="4206240" cy="1234440"/>
          </a:xfrm>
          <a:prstGeom prst="roundRect">
            <a:avLst>
              <a:gd fmla="val 6667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440680" y="4828032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Cristóbal De La Hoz Cifuentes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40680" y="5230368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D9D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D9D1"/>
                </a:solidFill>
                <a:latin typeface="Calibri"/>
                <a:ea typeface="Calibri"/>
                <a:cs typeface="Calibri"/>
                <a:sym typeface="Calibri"/>
              </a:rPr>
              <a:t>Especialista en Machine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548640" y="394016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E30"/>
                </a:solidFill>
                <a:latin typeface="Cambria"/>
                <a:ea typeface="Cambria"/>
                <a:cs typeface="Cambria"/>
                <a:sym typeface="Cambria"/>
              </a:rPr>
              <a:t>El deterioro cognitivo en adultos mayores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1554480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Los problemas cognitivos afectan memoria, atención, coordinación motora y planificación, y son factor de riesgo de demencia — aumentando la dependencia y la demanda de servicios de salud.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3063240"/>
            <a:ext cx="5943600" cy="260604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22960" y="3291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Dónde se sitúa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" y="3639312"/>
            <a:ext cx="5394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Chile enfrenta un envejecimiento poblacional acelerado. El proyecto se implementará en el CESFAM Nueva Aurora, en Viña del Mar.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 quién afecta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" y="4873752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Adultos mayores, hombres y mujeres, entre 60 y 90 años, con independencia funcional — su autonomía, calidad de vida y los servicios de salud que los atienden.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858000" y="1554480"/>
            <a:ext cx="4754880" cy="4114800"/>
          </a:xfrm>
          <a:prstGeom prst="roundRect">
            <a:avLst>
              <a:gd fmla="val 2222" name="adj"/>
            </a:avLst>
          </a:prstGeom>
          <a:solidFill>
            <a:srgbClr val="073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178040" y="182880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C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3CB"/>
                </a:solidFill>
                <a:latin typeface="Calibri"/>
                <a:ea typeface="Calibri"/>
                <a:cs typeface="Calibri"/>
                <a:sym typeface="Calibri"/>
              </a:rPr>
              <a:t>ENVEJECIMIENTO EN CHILE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178040" y="2194560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18,1%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78040" y="301752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F0E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F0EC"/>
                </a:solidFill>
                <a:latin typeface="Calibri"/>
                <a:ea typeface="Calibri"/>
                <a:cs typeface="Calibri"/>
                <a:sym typeface="Calibri"/>
              </a:rPr>
              <a:t>de la población tenía más de 60 años en 2022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7178040" y="370332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0F5C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2"/>
          <p:cNvSpPr/>
          <p:nvPr/>
        </p:nvSpPr>
        <p:spPr>
          <a:xfrm>
            <a:off x="7178040" y="3886200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4A261"/>
                </a:solidFill>
                <a:latin typeface="Cambria"/>
                <a:ea typeface="Cambria"/>
                <a:cs typeface="Cambria"/>
                <a:sym typeface="Cambria"/>
              </a:rPr>
              <a:t>31,1%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178040" y="470916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F0E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F0EC"/>
                </a:solidFill>
                <a:latin typeface="Calibri"/>
                <a:ea typeface="Calibri"/>
                <a:cs typeface="Calibri"/>
                <a:sym typeface="Calibri"/>
              </a:rPr>
              <a:t>proyectado para 2050 — un desafío demográfico y sanitario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CÓMO LO RESOLVEMOS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E30"/>
                </a:solidFill>
                <a:latin typeface="Cambria"/>
                <a:ea typeface="Cambria"/>
                <a:cs typeface="Cambria"/>
                <a:sym typeface="Cambria"/>
              </a:rPr>
              <a:t>Nuestra solución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1508760"/>
            <a:ext cx="110642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Un sistema de realidad virtual (Unity + Oculus Quest 2/3) donde, desde una posición sentada, los adultos mayores participan en escenarios de campo y ciudad con desafíos motores y cognitivos — complementado con un módulo de machine learning que apoya la identificación de deterioro cognitivo leve.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2743200"/>
            <a:ext cx="2651760" cy="32918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777240" y="299923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777240" y="2999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VR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49808" y="3749040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Entorno inmersivo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49808" y="4343400"/>
            <a:ext cx="224942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Escenarios de campo y ciudad en Unity, con desafíos de atención, memoria y coordinación motora.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383280" y="2743200"/>
            <a:ext cx="2651760" cy="32918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3611880" y="299923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611880" y="2999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584448" y="3749040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Protocolo de intervención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584448" y="4343400"/>
            <a:ext cx="224942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Sesiones de ~15 minutos, 2–3 veces por semana, durante 8 semanas.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217920" y="2743200"/>
            <a:ext cx="2651760" cy="32918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446520" y="299923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446520" y="2999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19088" y="3749040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Módulo de Machine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19088" y="4343400"/>
            <a:ext cx="224942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Compara algoritmos para apoyar —no reemplazar— la evaluación clínica tradicional.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9052560" y="2743200"/>
            <a:ext cx="2651760" cy="329184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9281160" y="2999232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9281160" y="2999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60"/>
              <a:buFont typeface="Calibri"/>
              <a:buNone/>
            </a:pPr>
            <a:r>
              <a:rPr b="1" i="0" lang="en-US" sz="15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9253728" y="3749040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Medición de impacto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9253728" y="4343400"/>
            <a:ext cx="224942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MoCA para deterioro cognitivo y UEQ-S para usabilidad, antes y después.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E30"/>
                </a:solidFill>
                <a:latin typeface="Cambria"/>
                <a:ea typeface="Cambria"/>
                <a:cs typeface="Cambria"/>
                <a:sym typeface="Cambria"/>
              </a:rPr>
              <a:t>Objetivo general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1737360"/>
            <a:ext cx="11064240" cy="1645920"/>
          </a:xfrm>
          <a:prstGeom prst="roundRect">
            <a:avLst>
              <a:gd fmla="val 555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914400" y="187452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Desarrollar y validar un prototipo funcional de realidad virtual inmersiva, con el propósito de evaluar su contribución a la ralentización del deterioro cognitivo en adultos mayores con independencia funcional, en el CESFAM Nueva Aurora.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48640" y="3749040"/>
            <a:ext cx="26517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49808" y="4663440"/>
            <a:ext cx="2249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Diseñar el entorno VR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749808" y="5120640"/>
            <a:ext cx="22494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Entorno inmersivo en Unity y HMD con desafíos motores y cognitivos.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383280" y="3749040"/>
            <a:ext cx="26517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3611880" y="397764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61188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584448" y="4663440"/>
            <a:ext cx="2249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Implementar la intervención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584448" y="5120640"/>
            <a:ext cx="22494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Sesiones de ~15 min, 2–3 veces por semana durante 8 semanas.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217920" y="3749040"/>
            <a:ext cx="26517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446520" y="397764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419088" y="4663440"/>
            <a:ext cx="2249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Evaluar usabilidad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419088" y="5120640"/>
            <a:ext cx="22494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Experiencia de usuario mediante el cuestionario UEQ-S.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9052560" y="3749040"/>
            <a:ext cx="26517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9281160" y="397764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28116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253728" y="4663440"/>
            <a:ext cx="224942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Evaluar el modelo ML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9253728" y="5120640"/>
            <a:ext cx="22494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Algoritmos con datos mixtos para apoyar la detección de deterioro leve.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B4C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C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CB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Ágil e híbrida: Scrum + CRISP-DM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Scrum para el desarrollo del entorno VR en Unity, y CRISP-DM para la construcción e integración del módulo de Machine Learning.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2331720"/>
            <a:ext cx="2084832" cy="3566160"/>
          </a:xfrm>
          <a:prstGeom prst="roundRect">
            <a:avLst>
              <a:gd fmla="val 3509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335024" y="2606040"/>
            <a:ext cx="512064" cy="51206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335024" y="2606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B4C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073B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713232" y="3383280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 y requerimientos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13232" y="4297680"/>
            <a:ext cx="175564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AD3"/>
                </a:solidFill>
                <a:latin typeface="Calibri"/>
                <a:ea typeface="Calibri"/>
                <a:cs typeface="Calibri"/>
                <a:sym typeface="Calibri"/>
              </a:rPr>
              <a:t>Historias de usuario, alcance de pruebas, Product Backlog.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638044" y="379476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779776" y="2331720"/>
            <a:ext cx="2084832" cy="3566160"/>
          </a:xfrm>
          <a:prstGeom prst="roundRect">
            <a:avLst>
              <a:gd fmla="val 3509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566160" y="2606040"/>
            <a:ext cx="512064" cy="51206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3566160" y="2606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B4C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073B4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944368" y="3383280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 e implementación VR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944368" y="4297680"/>
            <a:ext cx="175564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AD3"/>
                </a:solidFill>
                <a:latin typeface="Calibri"/>
                <a:ea typeface="Calibri"/>
                <a:cs typeface="Calibri"/>
                <a:sym typeface="Calibri"/>
              </a:rPr>
              <a:t>Entorno inmersivo en Unity para Oculus Quest 2/3.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869180" y="379476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010912" y="2331720"/>
            <a:ext cx="2084832" cy="3566160"/>
          </a:xfrm>
          <a:prstGeom prst="roundRect">
            <a:avLst>
              <a:gd fmla="val 3509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797296" y="2606040"/>
            <a:ext cx="512064" cy="51206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797296" y="2606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B4C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073B4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175504" y="3383280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 del módulo 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175504" y="4297680"/>
            <a:ext cx="175564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AD3"/>
                </a:solidFill>
                <a:latin typeface="Calibri"/>
                <a:ea typeface="Calibri"/>
                <a:cs typeface="Calibri"/>
                <a:sym typeface="Calibri"/>
              </a:rPr>
              <a:t>Preparación de datos, entrenamiento y comparación de algoritmos.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100316" y="379476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242048" y="2331720"/>
            <a:ext cx="2084832" cy="3566160"/>
          </a:xfrm>
          <a:prstGeom prst="roundRect">
            <a:avLst>
              <a:gd fmla="val 3509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8028432" y="2606040"/>
            <a:ext cx="512064" cy="51206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8028432" y="2606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B4C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073B4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406640" y="3383280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Intervención y pruebas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7406640" y="4297680"/>
            <a:ext cx="175564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AD3"/>
                </a:solidFill>
                <a:latin typeface="Calibri"/>
                <a:ea typeface="Calibri"/>
                <a:cs typeface="Calibri"/>
                <a:sym typeface="Calibri"/>
              </a:rPr>
              <a:t>Protocolo con adultos mayores; medición MoCA y UEQ-S.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9331452" y="379476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473184" y="2331720"/>
            <a:ext cx="2084832" cy="3566160"/>
          </a:xfrm>
          <a:prstGeom prst="roundRect">
            <a:avLst>
              <a:gd fmla="val 3509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0259568" y="2606040"/>
            <a:ext cx="512064" cy="51206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0259568" y="260604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3B4C"/>
              </a:buClr>
              <a:buSzPts val="1456"/>
              <a:buFont typeface="Calibri"/>
              <a:buNone/>
            </a:pPr>
            <a:r>
              <a:rPr b="1" i="0" lang="en-US" sz="1456" u="none" cap="none" strike="noStrike">
                <a:solidFill>
                  <a:srgbClr val="073B4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9637776" y="3383280"/>
            <a:ext cx="17556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y cierre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637776" y="4297680"/>
            <a:ext cx="1755648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EDAD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DAD3"/>
                </a:solidFill>
                <a:latin typeface="Calibri"/>
                <a:ea typeface="Calibri"/>
                <a:cs typeface="Calibri"/>
                <a:sym typeface="Calibri"/>
              </a:rPr>
              <a:t>Procesamiento estadístico e informe final.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E30"/>
                </a:solidFill>
                <a:latin typeface="Cambria"/>
                <a:ea typeface="Cambria"/>
                <a:cs typeface="Cambria"/>
                <a:sym typeface="Cambria"/>
              </a:rPr>
              <a:t>Roles y responsabilidades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fmla="val 206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48640" y="1600200"/>
            <a:ext cx="5394960" cy="1051560"/>
          </a:xfrm>
          <a:prstGeom prst="roundRect">
            <a:avLst>
              <a:gd fmla="val 8696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48640" y="2103120"/>
            <a:ext cx="539496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22960" y="174650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Mauricio Galdames Pino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22960" y="213055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Manager &amp; Desarrollador Principal VR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41248" y="3017520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051560" y="29260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Gestión del proyecto y facilitación de Scrum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41248" y="3767328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051560" y="367588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Arquitectura y desarrollo del entorno inmersivo en Unity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41248" y="4517136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051560" y="4425696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Mecánicas de interacción e interfaz para Oculus Quest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41248" y="5266944"/>
            <a:ext cx="91440" cy="914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1051560" y="5175504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Coordinación logística en CESFAM Nueva Aurora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263640" y="1600200"/>
            <a:ext cx="5394960" cy="4434840"/>
          </a:xfrm>
          <a:prstGeom prst="roundRect">
            <a:avLst>
              <a:gd fmla="val 206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263640" y="1600200"/>
            <a:ext cx="5394960" cy="1051560"/>
          </a:xfrm>
          <a:prstGeom prst="roundRect">
            <a:avLst>
              <a:gd fmla="val 8696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263640" y="2103120"/>
            <a:ext cx="5394960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537960" y="1746504"/>
            <a:ext cx="4846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Cristóbal De La Hoz Cifuentes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537960" y="2130552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Especialista en Machine Learning &amp; Análisis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556248" y="3017520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766560" y="29260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Extracción, limpieza y preprocesamiento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556248" y="3767328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766560" y="367588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Construcción, entrenamiento y validación de modelos ML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556248" y="4517136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766560" y="4425696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Integración del modelo de IA con el software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556248" y="5266944"/>
            <a:ext cx="91440" cy="914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766560" y="5175504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Análisis estadístico de resultados MoCA y UEQ-S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TAREAS A REALIZAR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E30"/>
                </a:solidFill>
                <a:latin typeface="Cambria"/>
                <a:ea typeface="Cambria"/>
                <a:cs typeface="Cambria"/>
                <a:sym typeface="Cambria"/>
              </a:rPr>
              <a:t>Plan de trabajo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7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{72B32B56-BDDB-4798-AA16-C45DA5F85D3D}</a:tableStyleId>
              </a:tblPr>
              <a:tblGrid>
                <a:gridCol w="3566150"/>
                <a:gridCol w="4480550"/>
                <a:gridCol w="1417325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Tarea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 y diseño técnico inicial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Requisitos, estructura y arquitectura de la solución VR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semanas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Mauricio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 escenarios y mecánicas VR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Entornos interactivos (campo y ciudad) en Unity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semanas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Mauricio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del modelo de Machine Learning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Entrenamiento y evaluación de algoritmos de detección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semanas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Cristóbal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de usabilidad y resultados cognitivos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de UEQ-S y registro de métricas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semana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Cristóbal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7"/>
          <p:cNvSpPr/>
          <p:nvPr/>
        </p:nvSpPr>
        <p:spPr>
          <a:xfrm>
            <a:off x="548640" y="57150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Duración total estimada: 8 semanas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E30"/>
                </a:solidFill>
                <a:latin typeface="Cambria"/>
                <a:ea typeface="Cambria"/>
                <a:cs typeface="Cambria"/>
                <a:sym typeface="Cambria"/>
              </a:rPr>
              <a:t>¿Cuánto nos tomaría?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48640" y="141732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8 semanas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48640" y="2377440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de duración total, distribuidas en 4 etapas secuenciales de trabajo en dupla.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48640" y="4023360"/>
            <a:ext cx="2766060" cy="594360"/>
          </a:xfrm>
          <a:prstGeom prst="rect">
            <a:avLst/>
          </a:prstGeom>
          <a:solidFill>
            <a:srgbClr val="028090"/>
          </a:solidFill>
          <a:ln cap="flat" cmpd="sng" w="25400">
            <a:solidFill>
              <a:srgbClr val="F4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548640" y="4023360"/>
            <a:ext cx="27660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2sem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314700" y="4023360"/>
            <a:ext cx="4149090" cy="594360"/>
          </a:xfrm>
          <a:prstGeom prst="rect">
            <a:avLst/>
          </a:prstGeom>
          <a:solidFill>
            <a:srgbClr val="00A896"/>
          </a:solidFill>
          <a:ln cap="flat" cmpd="sng" w="25400">
            <a:solidFill>
              <a:srgbClr val="F4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3314700" y="4023360"/>
            <a:ext cx="414909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3sem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463790" y="4023360"/>
            <a:ext cx="2766060" cy="594360"/>
          </a:xfrm>
          <a:prstGeom prst="rect">
            <a:avLst/>
          </a:prstGeom>
          <a:solidFill>
            <a:srgbClr val="5FBFB3"/>
          </a:solidFill>
          <a:ln cap="flat" cmpd="sng" w="25400">
            <a:solidFill>
              <a:srgbClr val="F4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7463790" y="4023360"/>
            <a:ext cx="27660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2sem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0229850" y="4023360"/>
            <a:ext cx="1383030" cy="594360"/>
          </a:xfrm>
          <a:prstGeom prst="rect">
            <a:avLst/>
          </a:prstGeom>
          <a:solidFill>
            <a:srgbClr val="F4A261"/>
          </a:solidFill>
          <a:ln cap="flat" cmpd="sng" w="25400">
            <a:solidFill>
              <a:srgbClr val="F4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0229850" y="4023360"/>
            <a:ext cx="138303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1sem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48640" y="4754880"/>
            <a:ext cx="27660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314700" y="4754880"/>
            <a:ext cx="4149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Desarrollo VR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463790" y="4754880"/>
            <a:ext cx="27660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Modelo ML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0229850" y="4754880"/>
            <a:ext cx="138303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E30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492240" y="1417320"/>
            <a:ext cx="5120640" cy="2331720"/>
          </a:xfrm>
          <a:prstGeom prst="roundRect">
            <a:avLst>
              <a:gd fmla="val 3922" name="adj"/>
            </a:avLst>
          </a:prstGeom>
          <a:solidFill>
            <a:srgbClr val="FFFFFF"/>
          </a:solidFill>
          <a:ln cap="flat" cmpd="sng" w="12700">
            <a:solidFill>
              <a:srgbClr val="DCE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766560" y="16276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Encaje con el período académico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766560" y="2011680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La intervención (8 semanas, 2–3 sesiones semanales) se organiza de forma progresiva dentro del período académico de Portafolio de Título, dividiendo el trabajo en prototipo, modelo ML, pruebas y análisis.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AF9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COSTOS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E30"/>
                </a:solidFill>
                <a:latin typeface="Cambria"/>
                <a:ea typeface="Cambria"/>
                <a:cs typeface="Cambria"/>
                <a:sym typeface="Cambria"/>
              </a:rPr>
              <a:t>Costos estimados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Basados en el equipamiento y recursos que requiere la propuesta (estimación referencial).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9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{72B32B56-BDDB-4798-AA16-C45DA5F85D3D}</a:tableStyleId>
              </a:tblPr>
              <a:tblGrid>
                <a:gridCol w="4206250"/>
                <a:gridCol w="5120650"/>
                <a:gridCol w="1737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Detalle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 estimado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Visor VR (Oculus/Meta Quest 2 o 3)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HMD para el prototipo y las sesiones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$400.000 – $700.000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cómputo (desarrollo)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 para Unity y entrenamiento de modelos ML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Ya disponible ($0)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Unity Engine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Motor de desarrollo del entorno VR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Gratuito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Librerías de Machine Learning (Python)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Herramientas open source para el modelo predictivo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Gratuito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E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Espacio CESFAM Nueva Aurora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Convenio institucional para las sesiones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6367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4C636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 costo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E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8F7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9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fmla="val 10667" name="adj"/>
            </a:avLst>
          </a:prstGeom>
          <a:solidFill>
            <a:srgbClr val="073B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Costo total estimado: ~$400.000 – $700.000 CLP (una sola inversión en hardware VR)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636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C636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B4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0A89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3C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3CB"/>
                </a:solidFill>
                <a:latin typeface="Calibri"/>
                <a:ea typeface="Calibri"/>
                <a:cs typeface="Calibri"/>
                <a:sym typeface="Calibri"/>
              </a:rPr>
              <a:t>EN SÍNTESIS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48640" y="96012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prototipo funcional, medible y replicable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48640" y="2011680"/>
            <a:ext cx="2606040" cy="2377440"/>
          </a:xfrm>
          <a:prstGeom prst="roundRect">
            <a:avLst>
              <a:gd fmla="val 3077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731520" y="224028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Problema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731520" y="29718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Deterioro cognitivo y envejecimiento poblacional en Chile.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337560" y="2011680"/>
            <a:ext cx="2606040" cy="2377440"/>
          </a:xfrm>
          <a:prstGeom prst="roundRect">
            <a:avLst>
              <a:gd fmla="val 3077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520440" y="224028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Solución concreta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520440" y="29718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VR (Unity + Oculus) más un módulo de Machine Learning.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126480" y="2011680"/>
            <a:ext cx="2606040" cy="2377440"/>
          </a:xfrm>
          <a:prstGeom prst="roundRect">
            <a:avLst>
              <a:gd fmla="val 3077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6309360" y="224028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8 semanas de trabajo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309360" y="29718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Planificación, desarrollo VR, modelo ML y validación.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8915400" y="2011680"/>
            <a:ext cx="2606040" cy="2377440"/>
          </a:xfrm>
          <a:prstGeom prst="roundRect">
            <a:avLst>
              <a:gd fmla="val 3077" name="adj"/>
            </a:avLst>
          </a:prstGeom>
          <a:solidFill>
            <a:srgbClr val="0B4B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9098280" y="224028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Inversión acotada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9098280" y="29718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Un visor VR; el resto del stack es gratuito y ya disponible.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0EC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Neuroflex VR — Proyecto APT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FE8E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FE8E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2026-09-01T02:42:38Z</dcterms:created>
  <dc:creator>PptxGenJS</dc:creator>
</cp:coreProperties>
</file>